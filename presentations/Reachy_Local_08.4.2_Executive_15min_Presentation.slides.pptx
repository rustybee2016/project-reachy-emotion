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93" d="100"/>
          <a:sy n="93" d="100"/>
        </p:scale>
        <p:origin x="10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Reachy_Local_08.4.2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Executive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Technical</a:t>
            </a:r>
            <a:r>
              <a:rPr/>
              <a:t> </a:t>
            </a:r>
            <a:r>
              <a:rPr/>
              <a:t>Briefing</a:t>
            </a:r>
            <a:r>
              <a:rPr/>
              <a:t> </a:t>
            </a:r>
            <a:r>
              <a:rPr/>
              <a:t>(15</a:t>
            </a:r>
            <a:r>
              <a:rPr/>
              <a:t> </a:t>
            </a:r>
            <a:r>
              <a:rPr/>
              <a:t>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Format: Google Slides import outline (one slide per H2). Paste into Slides via File → Import Slides (or use any Markdown→Slides tool).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1 — Title &amp; Outcome Statement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What this project is</a:t>
            </a:r>
          </a:p>
          <a:p>
            <a:pPr lvl="1"/>
            <a:r>
              <a:rPr/>
              <a:t>A </a:t>
            </a:r>
            <a:r>
              <a:rPr b="1"/>
              <a:t>local-first emotion intelligence platform</a:t>
            </a:r>
            <a:r>
              <a:rPr/>
              <a:t> for Reachy Mini robots.</a:t>
            </a:r>
          </a:p>
          <a:p>
            <a:pPr lvl="1"/>
            <a:r>
              <a:rPr/>
              <a:t>Converts short video clips into operational insight and real-time empathetic robot behavior.</a:t>
            </a:r>
          </a:p>
          <a:p>
            <a:pPr lvl="1"/>
            <a:r>
              <a:rPr/>
              <a:t>Built around a governed 3-class emotion model (</a:t>
            </a:r>
            <a:r>
              <a:rPr sz="1800">
                <a:latin typeface="Courier"/>
              </a:rPr>
              <a:t>happy</a:t>
            </a:r>
            <a:r>
              <a:rPr/>
              <a:t>, </a:t>
            </a:r>
            <a:r>
              <a:rPr sz="1800">
                <a:latin typeface="Courier"/>
              </a:rPr>
              <a:t>sad</a:t>
            </a:r>
            <a:r>
              <a:rPr/>
              <a:t>, </a:t>
            </a:r>
            <a:r>
              <a:rPr sz="1800">
                <a:latin typeface="Courier"/>
              </a:rPr>
              <a:t>neutral</a:t>
            </a:r>
            <a:r>
              <a:rPr/>
              <a:t>) with auditable promotion, evaluation, and deployment flow.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Executive takeaway</a:t>
            </a:r>
          </a:p>
          <a:p>
            <a:pPr lvl="1"/>
            <a:r>
              <a:rPr/>
              <a:t>This is not a model demo; it is a </a:t>
            </a:r>
            <a:r>
              <a:rPr b="1"/>
              <a:t>production-ready decision system</a:t>
            </a:r>
            <a:r>
              <a:rPr/>
              <a:t> with quality gates, privacy controls, and staged deployment.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2 — Why the Business Should Care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Core business outcomes</a:t>
            </a:r>
          </a:p>
          <a:p>
            <a:pPr lvl="1">
              <a:buAutoNum type="arabicPeriod"/>
            </a:pPr>
            <a:r>
              <a:rPr b="1"/>
              <a:t>Better user engagement</a:t>
            </a:r>
            <a:r>
              <a:rPr/>
              <a:t> through emotion-aware interactions.</a:t>
            </a:r>
          </a:p>
          <a:p>
            <a:pPr lvl="1">
              <a:buAutoNum type="arabicPeriod"/>
            </a:pPr>
            <a:r>
              <a:rPr b="1"/>
              <a:t>Lower operational risk</a:t>
            </a:r>
            <a:r>
              <a:rPr/>
              <a:t> via explicit Gate A/B controls and rollback paths.</a:t>
            </a:r>
          </a:p>
          <a:p>
            <a:pPr lvl="1">
              <a:buAutoNum type="arabicPeriod"/>
            </a:pPr>
            <a:r>
              <a:rPr b="1"/>
              <a:t>Compliance readiness</a:t>
            </a:r>
            <a:r>
              <a:rPr/>
              <a:t> through local-only data handling and retention enforcement.</a:t>
            </a:r>
          </a:p>
          <a:p>
            <a:pPr lvl="1">
              <a:buAutoNum type="arabicPeriod"/>
            </a:pPr>
            <a:r>
              <a:rPr b="1"/>
              <a:t>Faster iteration</a:t>
            </a:r>
            <a:r>
              <a:rPr/>
              <a:t> through n8n-based agent orchestration and reproducible ML pipelines.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Strategic fit</a:t>
            </a:r>
          </a:p>
          <a:p>
            <a:pPr lvl="1"/>
            <a:r>
              <a:rPr/>
              <a:t>Supports enterprise requirements for reliability, observability, and auditable change management.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3 — Case Base Scope Analyzed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Repository-wide scope (excluding virtual environment artifacts)</a:t>
            </a:r>
          </a:p>
          <a:p>
            <a:pPr lvl="1"/>
            <a:r>
              <a:rPr b="1"/>
              <a:t>Total tracked files analyzed:</a:t>
            </a:r>
            <a:r>
              <a:rPr/>
              <a:t> 1003</a:t>
            </a:r>
          </a:p>
          <a:p>
            <a:pPr lvl="1"/>
            <a:r>
              <a:rPr b="1"/>
              <a:t>Markdown/design/process docs:</a:t>
            </a:r>
            <a:r>
              <a:rPr/>
              <a:t> 408</a:t>
            </a:r>
          </a:p>
          <a:p>
            <a:pPr lvl="1"/>
            <a:r>
              <a:rPr b="1"/>
              <a:t>Python implementation files:</a:t>
            </a:r>
            <a:r>
              <a:rPr/>
              <a:t> 222</a:t>
            </a:r>
          </a:p>
          <a:p>
            <a:pPr lvl="1"/>
            <a:r>
              <a:rPr b="1"/>
              <a:t>JSON artifacts/configuration:</a:t>
            </a:r>
            <a:r>
              <a:rPr/>
              <a:t> 50</a:t>
            </a:r>
          </a:p>
          <a:p>
            <a:pPr lvl="1"/>
            <a:r>
              <a:rPr b="1"/>
              <a:t>Shell automation scripts:</a:t>
            </a:r>
            <a:r>
              <a:rPr/>
              <a:t> 24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Functional coverage discovered</a:t>
            </a:r>
          </a:p>
          <a:p>
            <a:pPr lvl="1"/>
            <a:r>
              <a:rPr/>
              <a:t>API/backend services (</a:t>
            </a:r>
            <a:r>
              <a:rPr sz="1800">
                <a:latin typeface="Courier"/>
              </a:rPr>
              <a:t>apps/api</a:t>
            </a:r>
            <a:r>
              <a:rPr/>
              <a:t>): </a:t>
            </a:r>
            <a:r>
              <a:rPr b="1"/>
              <a:t>53 Python files</a:t>
            </a:r>
          </a:p>
          <a:p>
            <a:pPr lvl="1"/>
            <a:r>
              <a:rPr/>
              <a:t>ML training/evaluation (</a:t>
            </a:r>
            <a:r>
              <a:rPr sz="1800">
                <a:latin typeface="Courier"/>
              </a:rPr>
              <a:t>trainer</a:t>
            </a:r>
            <a:r>
              <a:rPr/>
              <a:t>): </a:t>
            </a:r>
            <a:r>
              <a:rPr b="1"/>
              <a:t>21 Python files</a:t>
            </a:r>
          </a:p>
          <a:p>
            <a:pPr lvl="1"/>
            <a:r>
              <a:rPr/>
              <a:t>Web/UI workflows (</a:t>
            </a:r>
            <a:r>
              <a:rPr sz="1800">
                <a:latin typeface="Courier"/>
              </a:rPr>
              <a:t>apps/web</a:t>
            </a:r>
            <a:r>
              <a:rPr/>
              <a:t>): </a:t>
            </a:r>
            <a:r>
              <a:rPr b="1"/>
              <a:t>23 Python files</a:t>
            </a:r>
          </a:p>
          <a:p>
            <a:pPr lvl="1"/>
            <a:r>
              <a:rPr/>
              <a:t>Gesture/robot control (</a:t>
            </a:r>
            <a:r>
              <a:rPr sz="1800">
                <a:latin typeface="Courier"/>
              </a:rPr>
              <a:t>apps/reachy</a:t>
            </a:r>
            <a:r>
              <a:rPr/>
              <a:t>): </a:t>
            </a:r>
            <a:r>
              <a:rPr b="1"/>
              <a:t>8 Python files</a:t>
            </a:r>
          </a:p>
          <a:p>
            <a:pPr lvl="1"/>
            <a:r>
              <a:rPr/>
              <a:t>Statistical validation scripts (</a:t>
            </a:r>
            <a:r>
              <a:rPr sz="1800">
                <a:latin typeface="Courier"/>
              </a:rPr>
              <a:t>stats/scripts</a:t>
            </a:r>
            <a:r>
              <a:rPr/>
              <a:t>): </a:t>
            </a:r>
            <a:r>
              <a:rPr b="1"/>
              <a:t>5 Python files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4 — End-to-End Architecture in One Picture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[Web UI / Operators]
       |
       v
[FastAPI Media + Gateway Layer] &lt;--&gt; [PostgreSQL + Filesystem Manifests]
       |
       +--&gt; [Promotion/Curation + Reconciler + Audit]
       |
       +--&gt; [Training Orchestrator (EfficientNet-B0 + MLflow + Gate A)]
       |
       +--&gt; [Deployment Agent (ONNX -&gt; TensorRT -&gt; Jetson)]
       |
       +--&gt; [Observability + Privacy/Retention]
       |
       v
[Emotion -&gt; LLM -&gt; Gesture Pipeline] --&gt; [Reachy Mini]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lvl="1"/>
            <a:r>
              <a:rPr/>
              <a:t>Cross-domain integration: data ops + ML ops + edge deployment + embodied AI.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5 — Agentic Operating Model (10+1 Agents)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Orchestrated responsibilities</a:t>
            </a:r>
          </a:p>
          <a:p>
            <a:pPr lvl="1"/>
            <a:r>
              <a:rPr/>
              <a:t>Ingest, labeling, promotion, reconciliation, training, evaluation, deployment, privacy, telemetry, and gesture execution.</a:t>
            </a:r>
          </a:p>
          <a:p>
            <a:pPr lvl="1"/>
            <a:r>
              <a:rPr/>
              <a:t>Optional generation balancer enforces class equilibrium (1:1:1).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Business assurance pattern</a:t>
            </a:r>
          </a:p>
          <a:p>
            <a:pPr lvl="1"/>
            <a:r>
              <a:rPr/>
              <a:t>Narrow responsibility per agent + explicit event contracts = lower incident blast radius and clearer ownership.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6 — Quality Gates and Governance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Gate A thresholds enforced in code</a:t>
            </a:r>
          </a:p>
          <a:p>
            <a:pPr lvl="1"/>
            <a:r>
              <a:rPr/>
              <a:t>Macro F1 &gt;= 0.84</a:t>
            </a:r>
          </a:p>
          <a:p>
            <a:pPr lvl="1"/>
            <a:r>
              <a:rPr/>
              <a:t>Balanced Accuracy &gt;= 0.85</a:t>
            </a:r>
          </a:p>
          <a:p>
            <a:pPr lvl="1"/>
            <a:r>
              <a:rPr/>
              <a:t>Per-class F1 &gt;= 0.75 and floor &gt;= 0.70</a:t>
            </a:r>
          </a:p>
          <a:p>
            <a:pPr lvl="1"/>
            <a:r>
              <a:rPr/>
              <a:t>ECE &lt;= 0.08</a:t>
            </a:r>
          </a:p>
          <a:p>
            <a:pPr lvl="1"/>
            <a:r>
              <a:rPr/>
              <a:t>Brier &lt;= 0.16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Governance implementation highlights</a:t>
            </a:r>
          </a:p>
          <a:p>
            <a:pPr lvl="1"/>
            <a:r>
              <a:rPr/>
              <a:t>Correlation IDs on promotion routes for traceability.</a:t>
            </a:r>
          </a:p>
          <a:p>
            <a:pPr lvl="1"/>
            <a:r>
              <a:rPr/>
              <a:t>Deprecated endpoints retained with warning headers for controlled migration.</a:t>
            </a:r>
          </a:p>
          <a:p>
            <a:pPr lvl="1"/>
            <a:r>
              <a:rPr/>
              <a:t>Legacy support is explicitly toggleable in app configuration lifecycle.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7 — Statistical Evidence: Model Trend Across Variants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Gate A dashboard run progression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Macro</a:t>
                      </a:r>
                      <a:r>
                        <a:rPr/>
                        <a:t> </a:t>
                      </a: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Balanced</a:t>
                      </a:r>
                      <a:r>
                        <a:rPr/>
                        <a:t> </a:t>
                      </a: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Brier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0.8125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0.8120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0.8080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0.1120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0.1580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Variant</a:t>
                      </a:r>
                      <a:r>
                        <a:rPr/>
                        <a:t> </a:t>
                      </a: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0.9023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0.9017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0.8998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0.0894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0.1299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Variant</a:t>
                      </a:r>
                      <a:r>
                        <a:rPr/>
                        <a:t> </a:t>
                      </a: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0.9297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0.9298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0.9285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0.0650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0.0920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Net improvement (Base -&gt; Variant 2)</a:t>
            </a:r>
          </a:p>
          <a:p>
            <a:pPr lvl="1"/>
            <a:r>
              <a:rPr/>
              <a:t>Accuracy: </a:t>
            </a:r>
            <a:r>
              <a:rPr b="1"/>
              <a:t>+11.72 points</a:t>
            </a:r>
          </a:p>
          <a:p>
            <a:pPr lvl="1"/>
            <a:r>
              <a:rPr/>
              <a:t>Macro F1: </a:t>
            </a:r>
            <a:r>
              <a:rPr b="1"/>
              <a:t>+11.78 points</a:t>
            </a:r>
          </a:p>
          <a:p>
            <a:pPr lvl="1"/>
            <a:r>
              <a:rPr/>
              <a:t>Balanced Accuracy: </a:t>
            </a:r>
            <a:r>
              <a:rPr b="1"/>
              <a:t>+12.05 points</a:t>
            </a:r>
          </a:p>
          <a:p>
            <a:pPr lvl="1"/>
            <a:r>
              <a:rPr/>
              <a:t>ECE: </a:t>
            </a:r>
            <a:r>
              <a:rPr b="1"/>
              <a:t>-4.70 points</a:t>
            </a:r>
            <a:r>
              <a:rPr/>
              <a:t> (better calibration)</a:t>
            </a:r>
          </a:p>
          <a:p>
            <a:pPr lvl="1"/>
            <a:r>
              <a:rPr/>
              <a:t>Brier: </a:t>
            </a:r>
            <a:r>
              <a:rPr b="1"/>
              <a:t>-6.60 points</a:t>
            </a:r>
            <a:r>
              <a:rPr/>
              <a:t> (better probabilistic quality)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8 — Statistical Depth Beyond a Single Score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Paired statistical testing (demo study artifacts)</a:t>
            </a:r>
          </a:p>
          <a:p>
            <a:pPr lvl="1"/>
            <a:r>
              <a:rPr b="1"/>
              <a:t>Per-class paired t-tests:</a:t>
            </a:r>
            <a:r>
              <a:rPr/>
              <a:t> 8/8 classes significant after BH correction.</a:t>
            </a:r>
          </a:p>
          <a:p>
            <a:pPr lvl="1"/>
            <a:r>
              <a:rPr b="1"/>
              <a:t>Directionality:</a:t>
            </a:r>
            <a:r>
              <a:rPr/>
              <a:t> 7 improved, 1 degraded (</a:t>
            </a:r>
            <a:r>
              <a:rPr sz="1800">
                <a:latin typeface="Courier"/>
              </a:rPr>
              <a:t>happiness</a:t>
            </a:r>
            <a:r>
              <a:rPr/>
              <a:t>) indicating nuanced change, not blind uplift.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Multivariate paired analysis</a:t>
            </a:r>
          </a:p>
          <a:p>
            <a:pPr lvl="1"/>
            <a:r>
              <a:rPr b="1"/>
              <a:t>Stuart-Maxwell p = 0.148</a:t>
            </a:r>
            <a:r>
              <a:rPr/>
              <a:t> (not significant at alpha=0.05).</a:t>
            </a:r>
          </a:p>
          <a:p>
            <a:pPr lvl="1"/>
            <a:r>
              <a:rPr/>
              <a:t>Interpretation: global marginal distribution shifts are controlled while class-level improvements can still be meaningful.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9 — Backend Demonstration Plan (Live/Recorded)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Demo flow (4 minutes inside the 15)</a:t>
            </a:r>
          </a:p>
          <a:p>
            <a:pPr lvl="1">
              <a:buAutoNum type="arabicPeriod"/>
            </a:pPr>
            <a:r>
              <a:rPr b="1"/>
              <a:t>Promote</a:t>
            </a:r>
            <a:r>
              <a:rPr/>
              <a:t> validated samples using canonical endpoint (</a:t>
            </a:r>
            <a:r>
              <a:rPr sz="1800">
                <a:latin typeface="Courier"/>
              </a:rPr>
              <a:t>POST /api/v1/media/promote</a:t>
            </a:r>
            <a:r>
              <a:rPr/>
              <a:t>).</a:t>
            </a:r>
          </a:p>
          <a:p>
            <a:pPr lvl="1">
              <a:buAutoNum type="arabicPeriod"/>
            </a:pPr>
            <a:r>
              <a:rPr b="1"/>
              <a:t>Trigger training</a:t>
            </a:r>
            <a:r>
              <a:rPr/>
              <a:t> with EfficientNet pipeline and observe run ID/artifact lifecycle.</a:t>
            </a:r>
          </a:p>
          <a:p>
            <a:pPr lvl="1">
              <a:buAutoNum type="arabicPeriod"/>
            </a:pPr>
            <a:r>
              <a:rPr b="1"/>
              <a:t>Review Gate A JSON</a:t>
            </a:r>
            <a:r>
              <a:rPr/>
              <a:t> output in </a:t>
            </a:r>
            <a:r>
              <a:rPr sz="1800">
                <a:latin typeface="Courier"/>
              </a:rPr>
              <a:t>stats/results</a:t>
            </a:r>
            <a:r>
              <a:rPr/>
              <a:t>.</a:t>
            </a:r>
          </a:p>
          <a:p>
            <a:pPr lvl="1">
              <a:buAutoNum type="arabicPeriod"/>
            </a:pPr>
            <a:r>
              <a:rPr b="1"/>
              <a:t>Show dashboard comparison</a:t>
            </a:r>
            <a:r>
              <a:rPr/>
              <a:t> between base and tuned variants.</a:t>
            </a:r>
          </a:p>
          <a:p>
            <a:pPr lvl="1">
              <a:buAutoNum type="arabicPeriod"/>
            </a:pPr>
            <a:r>
              <a:rPr b="1"/>
              <a:t>Trigger emotion-&gt;LLM-&gt;gesture event</a:t>
            </a:r>
            <a:r>
              <a:rPr/>
              <a:t> and show response + gesture cue handling.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Demo success criteria</a:t>
            </a:r>
          </a:p>
          <a:p>
            <a:pPr lvl="1"/>
            <a:r>
              <a:rPr/>
              <a:t>One traceable correlation path from ingestion to evaluation to robot action.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10 — Technical Walkthrough for Rusty (Control Flow)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A) API boot lifecycle (</a:t>
            </a:r>
            <a:r>
              <a:rPr sz="1800" b="1">
                <a:latin typeface="Courier"/>
              </a:rPr>
              <a:t>apps/api/app/main.py</a:t>
            </a:r>
            <a:r>
              <a:rPr b="1"/>
              <a:t>)</a:t>
            </a:r>
          </a:p>
          <a:p>
            <a:pPr lvl="1">
              <a:buAutoNum type="arabicPeriod"/>
            </a:pPr>
            <a:r>
              <a:rPr/>
              <a:t>Load env + config.</a:t>
            </a:r>
          </a:p>
          <a:p>
            <a:pPr lvl="1">
              <a:buAutoNum type="arabicPeriod"/>
            </a:pPr>
            <a:r>
              <a:rPr/>
              <a:t>Create shared </a:t>
            </a:r>
            <a:r>
              <a:rPr sz="1800">
                <a:latin typeface="Courier"/>
              </a:rPr>
              <a:t>httpx.AsyncClient</a:t>
            </a:r>
            <a:r>
              <a:rPr/>
              <a:t>.</a:t>
            </a:r>
          </a:p>
          <a:p>
            <a:pPr lvl="1">
              <a:buAutoNum type="arabicPeriod"/>
            </a:pPr>
            <a:r>
              <a:rPr/>
              <a:t>Start thumbnail watcher background service.</a:t>
            </a:r>
          </a:p>
          <a:p>
            <a:pPr lvl="1">
              <a:buAutoNum type="arabicPeriod"/>
            </a:pPr>
            <a:r>
              <a:rPr/>
              <a:t>Register current routers (health, media_v1, promote, ingest, training, observability, websocket cues, etc.).</a:t>
            </a:r>
          </a:p>
          <a:p>
            <a:pPr lvl="1">
              <a:buAutoNum type="arabicPeriod"/>
            </a:pPr>
            <a:r>
              <a:rPr/>
              <a:t>Optionally include legacy router compatibility.</a:t>
            </a:r>
          </a:p>
          <a:p>
            <a:pPr lvl="1">
              <a:buAutoNum type="arabicPeriod"/>
            </a:pPr>
            <a:r>
              <a:rPr/>
              <a:t>On shutdown: close HTTP client + stop watcher.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B) Promotion router behavior (</a:t>
            </a:r>
            <a:r>
              <a:rPr sz="1800" b="1">
                <a:latin typeface="Courier"/>
              </a:rPr>
              <a:t>apps/api/app/routers/promote.py</a:t>
            </a:r>
            <a:r>
              <a:rPr b="1"/>
              <a:t>)</a:t>
            </a:r>
          </a:p>
          <a:p>
            <a:pPr lvl="1"/>
            <a:r>
              <a:rPr/>
              <a:t>Each request resolves/creates </a:t>
            </a:r>
            <a:r>
              <a:rPr sz="1800">
                <a:latin typeface="Courier"/>
              </a:rPr>
              <a:t>X-Correlation-ID</a:t>
            </a:r>
            <a:r>
              <a:rPr/>
              <a:t>.</a:t>
            </a:r>
          </a:p>
          <a:p>
            <a:pPr lvl="1"/>
            <a:r>
              <a:rPr/>
              <a:t>Calls service methods (</a:t>
            </a:r>
            <a:r>
              <a:rPr sz="1800">
                <a:latin typeface="Courier"/>
              </a:rPr>
              <a:t>stage_to_train</a:t>
            </a:r>
            <a:r>
              <a:rPr/>
              <a:t>, </a:t>
            </a:r>
            <a:r>
              <a:rPr sz="1800">
                <a:latin typeface="Courier"/>
              </a:rPr>
              <a:t>sample_split</a:t>
            </a:r>
            <a:r>
              <a:rPr/>
              <a:t>, </a:t>
            </a:r>
            <a:r>
              <a:rPr sz="1800">
                <a:latin typeface="Courier"/>
              </a:rPr>
              <a:t>reset_manifest</a:t>
            </a:r>
            <a:r>
              <a:rPr/>
              <a:t>).</a:t>
            </a:r>
          </a:p>
          <a:p>
            <a:pPr lvl="1"/>
            <a:r>
              <a:rPr/>
              <a:t>Uses structured exception handling to return 422/409/400 with correlation-aware detail payloads.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11 — Technical Walkthrough for Rusty (Pipeline Syntax + Logic)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Emotion-&gt;LLM-&gt;Gesture orchestrator (</a:t>
            </a:r>
            <a:r>
              <a:rPr sz="1800" b="1">
                <a:latin typeface="Courier"/>
              </a:rPr>
              <a:t>apps/pipeline/emotion_llm_gesture.py</a:t>
            </a:r>
            <a:r>
              <a:rPr b="1"/>
              <a:t>)</a:t>
            </a:r>
          </a:p>
          <a:p>
            <a:pPr lvl="1"/>
            <a:r>
              <a:rPr/>
              <a:t>Uses dataclasses (</a:t>
            </a:r>
            <a:r>
              <a:rPr sz="1800">
                <a:latin typeface="Courier"/>
              </a:rPr>
              <a:t>PipelineConfig</a:t>
            </a:r>
            <a:r>
              <a:rPr/>
              <a:t>, </a:t>
            </a:r>
            <a:r>
              <a:rPr sz="1800">
                <a:latin typeface="Courier"/>
              </a:rPr>
              <a:t>EmotionEvent</a:t>
            </a:r>
            <a:r>
              <a:rPr/>
              <a:t>, </a:t>
            </a:r>
            <a:r>
              <a:rPr sz="1800">
                <a:latin typeface="Courier"/>
              </a:rPr>
              <a:t>PipelineResult</a:t>
            </a:r>
            <a:r>
              <a:rPr/>
              <a:t>) for typed state payloads.</a:t>
            </a:r>
          </a:p>
          <a:p>
            <a:pPr lvl="1"/>
            <a:r>
              <a:rPr/>
              <a:t>Uses Enum (</a:t>
            </a:r>
            <a:r>
              <a:rPr sz="1800">
                <a:latin typeface="Courier"/>
              </a:rPr>
              <a:t>PipelineState</a:t>
            </a:r>
            <a:r>
              <a:rPr/>
              <a:t>) for explicit finite-state control.</a:t>
            </a:r>
          </a:p>
          <a:p>
            <a:pPr lvl="1"/>
            <a:r>
              <a:rPr/>
              <a:t>Initializes composable collaborators:</a:t>
            </a:r>
          </a:p>
          <a:p>
            <a:pPr lvl="2"/>
            <a:r>
              <a:rPr/>
              <a:t>LLM client (real or mock)</a:t>
            </a:r>
          </a:p>
          <a:p>
            <a:pPr lvl="2"/>
            <a:r>
              <a:rPr/>
              <a:t>Gesture controller + mapper + modulator</a:t>
            </a:r>
          </a:p>
          <a:p>
            <a:pPr lvl="2"/>
            <a:r>
              <a:rPr/>
              <a:t>Confidence handler + temporal smoother</a:t>
            </a:r>
          </a:p>
          <a:p>
            <a:pPr lvl="1"/>
            <a:r>
              <a:rPr/>
              <a:t>Uses bounded </a:t>
            </a:r>
            <a:r>
              <a:rPr sz="1800">
                <a:latin typeface="Courier"/>
              </a:rPr>
              <a:t>asyncio.Queue</a:t>
            </a:r>
            <a:r>
              <a:rPr/>
              <a:t> to prevent unbounded load.</a:t>
            </a:r>
          </a:p>
          <a:p>
            <a:pPr lvl="1"/>
            <a:r>
              <a:rPr/>
              <a:t>Uses callbacks for decoupled downstream handling (response and gesture events).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Why this is architecturally strong</a:t>
            </a:r>
          </a:p>
          <a:p>
            <a:pPr lvl="1"/>
            <a:r>
              <a:rPr/>
              <a:t>Clear separation of concerns and safe async boundaries for real-time robotics workflows.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12 — Risk, Controls, and Residual Gaps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Key strengths</a:t>
            </a:r>
          </a:p>
          <a:p>
            <a:pPr lvl="1"/>
            <a:r>
              <a:rPr/>
              <a:t>Local-first privacy posture.</a:t>
            </a:r>
          </a:p>
          <a:p>
            <a:pPr lvl="1"/>
            <a:r>
              <a:rPr/>
              <a:t>Explicit gate checks before export/deploy.</a:t>
            </a:r>
          </a:p>
          <a:p>
            <a:pPr lvl="1"/>
            <a:r>
              <a:rPr/>
              <a:t>Rollback-aware deployment design.</a:t>
            </a:r>
          </a:p>
          <a:p>
            <a:pPr lvl="1"/>
            <a:r>
              <a:rPr/>
              <a:t>Auditable event-driven operations.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Residual risks to track</a:t>
            </a:r>
          </a:p>
          <a:p>
            <a:pPr lvl="1"/>
            <a:r>
              <a:rPr/>
              <a:t>Calibration instability in tiny-sample gate artifacts.</a:t>
            </a:r>
          </a:p>
          <a:p>
            <a:pPr lvl="1"/>
            <a:r>
              <a:rPr/>
              <a:t>Potential drift between synthetic and real-world interactions.</a:t>
            </a:r>
          </a:p>
          <a:p>
            <a:pPr lvl="1"/>
            <a:r>
              <a:rPr/>
              <a:t>Operational maturity of canary/rollout criteria in prolonged field usage.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Proposed mitigations</a:t>
            </a:r>
          </a:p>
          <a:p>
            <a:pPr lvl="1"/>
            <a:r>
              <a:rPr/>
              <a:t>Increase balanced real-world validation set.</a:t>
            </a:r>
          </a:p>
          <a:p>
            <a:pPr lvl="1"/>
            <a:r>
              <a:rPr/>
              <a:t>Add weekly drift report and confidence bucket alarms.</a:t>
            </a:r>
          </a:p>
          <a:p>
            <a:pPr lvl="1"/>
            <a:r>
              <a:rPr/>
              <a:t>Add post-deployment user-outcome KPIs (engagement, de-escalation rates).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13 — ROI and Program-Level Implications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Value realization levers</a:t>
            </a:r>
          </a:p>
          <a:p>
            <a:pPr lvl="1"/>
            <a:r>
              <a:rPr b="1"/>
              <a:t>Faster release cycles:</a:t>
            </a:r>
            <a:r>
              <a:rPr/>
              <a:t> reusable pipeline and run-scoped artifacts.</a:t>
            </a:r>
          </a:p>
          <a:p>
            <a:pPr lvl="1"/>
            <a:r>
              <a:rPr b="1"/>
              <a:t>Lower incident cost:</a:t>
            </a:r>
            <a:r>
              <a:rPr/>
              <a:t> deterministic gates + rollback path.</a:t>
            </a:r>
          </a:p>
          <a:p>
            <a:pPr lvl="1"/>
            <a:r>
              <a:rPr b="1"/>
              <a:t>Higher trust:</a:t>
            </a:r>
            <a:r>
              <a:rPr/>
              <a:t> transparent metrics + quality controls.</a:t>
            </a:r>
          </a:p>
          <a:p>
            <a:pPr lvl="1"/>
            <a:r>
              <a:rPr b="1"/>
              <a:t>Team productivity:</a:t>
            </a:r>
            <a:r>
              <a:rPr/>
              <a:t> one system supports researchers, ops, and product teams.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Program recommendation</a:t>
            </a:r>
          </a:p>
          <a:p>
            <a:pPr lvl="1"/>
            <a:r>
              <a:rPr/>
              <a:t>Continue to controlled canary with explicit success metrics per business segment.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14 — Why This Demonstrates Mid-Level Consultant / Solutions Architect Skill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Competency mapping</a:t>
            </a:r>
          </a:p>
          <a:p>
            <a:pPr lvl="1">
              <a:buAutoNum type="arabicPeriod"/>
            </a:pPr>
            <a:r>
              <a:rPr b="1"/>
              <a:t>Business translation:</a:t>
            </a:r>
            <a:r>
              <a:rPr/>
              <a:t> Converts emotion ML into decision-ready KPIs and risk frameworks.</a:t>
            </a:r>
          </a:p>
          <a:p>
            <a:pPr lvl="1">
              <a:buAutoNum type="arabicPeriod"/>
            </a:pPr>
            <a:r>
              <a:rPr b="1"/>
              <a:t>Systems architecture:</a:t>
            </a:r>
            <a:r>
              <a:rPr/>
              <a:t> Connects UI, API, data, ML training, observability, and edge deployment.</a:t>
            </a:r>
          </a:p>
          <a:p>
            <a:pPr lvl="1">
              <a:buAutoNum type="arabicPeriod"/>
            </a:pPr>
            <a:r>
              <a:rPr b="1"/>
              <a:t>Governance design:</a:t>
            </a:r>
            <a:r>
              <a:rPr/>
              <a:t> Enforces privacy, retention, quality gates, and compatibility migration.</a:t>
            </a:r>
          </a:p>
          <a:p>
            <a:pPr lvl="1">
              <a:buAutoNum type="arabicPeriod"/>
            </a:pPr>
            <a:r>
              <a:rPr b="1"/>
              <a:t>Technical depth:</a:t>
            </a:r>
            <a:r>
              <a:rPr/>
              <a:t> Implements asynchronous orchestration, model evaluation logic, and deployment pathways.</a:t>
            </a:r>
          </a:p>
          <a:p>
            <a:pPr lvl="1">
              <a:buAutoNum type="arabicPeriod"/>
            </a:pPr>
            <a:r>
              <a:rPr b="1"/>
              <a:t>Change management:</a:t>
            </a:r>
            <a:r>
              <a:rPr/>
              <a:t> Uses deprecation shims, reproducible runs, and operational dashboards for stakeholder alignment.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Executive summary statement</a:t>
            </a:r>
          </a:p>
          <a:p>
            <a:pPr lvl="1"/>
            <a:r>
              <a:rPr/>
              <a:t>Rusty demonstrates the profile of a </a:t>
            </a:r>
            <a:r>
              <a:rPr b="1"/>
              <a:t>mid-level consultant/solutions architect</a:t>
            </a:r>
            <a:r>
              <a:rPr/>
              <a:t> by combining technical implementation with governance, operational design, and measurable business outcomes.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Slide 15 — Close &amp; Ask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Decision requested</a:t>
            </a:r>
          </a:p>
          <a:p>
            <a:pPr lvl="1"/>
            <a:r>
              <a:rPr/>
              <a:t>Approve next-phase canary rollout plan with KPI guardrails.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Immediate next 30 days</a:t>
            </a:r>
          </a:p>
          <a:p>
            <a:pPr lvl="1"/>
            <a:r>
              <a:rPr/>
              <a:t>Expand test balance coverage.</a:t>
            </a:r>
          </a:p>
          <a:p>
            <a:pPr lvl="1"/>
            <a:r>
              <a:rPr/>
              <a:t>Formalize Gate B/C reporting dashboards.</a:t>
            </a:r>
          </a:p>
          <a:p>
            <a:pPr lvl="1"/>
            <a:r>
              <a:rPr/>
              <a:t>Run two executive demos: one technical deep-dive, one business-value narrative.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Appendix A — 15-Minute Delivery Script (Timeboxed)</a:t>
            </a:r>
          </a:p>
          <a:p>
            <a:pPr lvl="1"/>
            <a:r>
              <a:rPr b="1"/>
              <a:t>00:00-01:00</a:t>
            </a:r>
            <a:r>
              <a:rPr/>
              <a:t> Slide 1: mission and outcome</a:t>
            </a:r>
          </a:p>
          <a:p>
            <a:pPr lvl="1"/>
            <a:r>
              <a:rPr b="1"/>
              <a:t>01:00-02:00</a:t>
            </a:r>
            <a:r>
              <a:rPr/>
              <a:t> Slide 2: why business value now</a:t>
            </a:r>
          </a:p>
          <a:p>
            <a:pPr lvl="1"/>
            <a:r>
              <a:rPr b="1"/>
              <a:t>02:00-03:00</a:t>
            </a:r>
            <a:r>
              <a:rPr/>
              <a:t> Slide 3: case-base evidence of maturity</a:t>
            </a:r>
          </a:p>
          <a:p>
            <a:pPr lvl="1"/>
            <a:r>
              <a:rPr b="1"/>
              <a:t>03:00-04:00</a:t>
            </a:r>
            <a:r>
              <a:rPr/>
              <a:t> Slide 4: architecture overview</a:t>
            </a:r>
          </a:p>
          <a:p>
            <a:pPr lvl="1"/>
            <a:r>
              <a:rPr b="1"/>
              <a:t>04:00-05:00</a:t>
            </a:r>
            <a:r>
              <a:rPr/>
              <a:t> Slide 5: agent responsibilities</a:t>
            </a:r>
          </a:p>
          <a:p>
            <a:pPr lvl="1"/>
            <a:r>
              <a:rPr b="1"/>
              <a:t>05:00-06:00</a:t>
            </a:r>
            <a:r>
              <a:rPr/>
              <a:t> Slide 6: governance and quality gates</a:t>
            </a:r>
          </a:p>
          <a:p>
            <a:pPr lvl="1"/>
            <a:r>
              <a:rPr b="1"/>
              <a:t>06:00-07:30</a:t>
            </a:r>
            <a:r>
              <a:rPr/>
              <a:t> Slide 7: hard metrics and trendline</a:t>
            </a:r>
          </a:p>
          <a:p>
            <a:pPr lvl="1"/>
            <a:r>
              <a:rPr b="1"/>
              <a:t>07:30-08:30</a:t>
            </a:r>
            <a:r>
              <a:rPr/>
              <a:t> Slide 8: statistical rigor</a:t>
            </a:r>
          </a:p>
          <a:p>
            <a:pPr lvl="1"/>
            <a:r>
              <a:rPr b="1"/>
              <a:t>08:30-09:30</a:t>
            </a:r>
            <a:r>
              <a:rPr/>
              <a:t> Slide 9: demo plan and success criteria</a:t>
            </a:r>
          </a:p>
          <a:p>
            <a:pPr lvl="1"/>
            <a:r>
              <a:rPr b="1"/>
              <a:t>09:30-11:30</a:t>
            </a:r>
            <a:r>
              <a:rPr/>
              <a:t> Slides 10-11: technical control flow walkthrough for Rusty</a:t>
            </a:r>
          </a:p>
          <a:p>
            <a:pPr lvl="1"/>
            <a:r>
              <a:rPr b="1"/>
              <a:t>11:30-12:30</a:t>
            </a:r>
            <a:r>
              <a:rPr/>
              <a:t> Slide 12: risk and mitigation</a:t>
            </a:r>
          </a:p>
          <a:p>
            <a:pPr lvl="1"/>
            <a:r>
              <a:rPr b="1"/>
              <a:t>12:30-13:30</a:t>
            </a:r>
            <a:r>
              <a:rPr/>
              <a:t> Slide 13: ROI implications</a:t>
            </a:r>
          </a:p>
          <a:p>
            <a:pPr lvl="1"/>
            <a:r>
              <a:rPr b="1"/>
              <a:t>13:30-14:30</a:t>
            </a:r>
            <a:r>
              <a:rPr/>
              <a:t> Slide 14: competency proof (consultant/architect)</a:t>
            </a:r>
          </a:p>
          <a:p>
            <a:pPr lvl="1"/>
            <a:r>
              <a:rPr b="1"/>
              <a:t>14:30-15:00</a:t>
            </a:r>
            <a:r>
              <a:rPr/>
              <a:t> Slide 15: ask and commitments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Appendix B — Presenter Notes for Technical Q&amp;A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Q1: Why both macro F1 and calibration metrics?</a:t>
            </a:r>
          </a:p>
          <a:p>
            <a:pPr lvl="1"/>
            <a:r>
              <a:rPr/>
              <a:t>Macro F1 ensures class-balanced predictive quality.</a:t>
            </a:r>
          </a:p>
          <a:p>
            <a:pPr lvl="1"/>
            <a:r>
              <a:rPr/>
              <a:t>ECE/Brier ensure confidence scores are trustworthy for downstream behavior modulation.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Q2: Why keep deprecated endpoints?</a:t>
            </a:r>
          </a:p>
          <a:p>
            <a:pPr lvl="1"/>
            <a:r>
              <a:rPr/>
              <a:t>Controlled migration avoids breaking external automations while steering traffic to canonical endpoints.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Q3: Why queue-based async orchestration in the gesture pipeline?</a:t>
            </a:r>
          </a:p>
          <a:p>
            <a:pPr lvl="1"/>
            <a:r>
              <a:rPr/>
              <a:t>Real-time streams can burst; bounded queues and callbacks protect responsiveness and avoid uncontrolled backpressure.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Q4: What proves this is enterprise-ready vs a notebook project?</a:t>
            </a:r>
          </a:p>
          <a:p>
            <a:pPr lvl="1"/>
            <a:r>
              <a:rPr/>
              <a:t>Reproducible run IDs, gate artifacts, migration strategy, and role-separated services show production system discipline.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Slide Title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2026-03-25T05:55:57Z</dcterms:created>
  <dcterms:modified xsi:type="dcterms:W3CDTF">2026-03-25T05:55:57Z</dcterms:modified>
</cp:coreProperties>
</file>